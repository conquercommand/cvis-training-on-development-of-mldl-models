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ulish"/>
      <p:regular r:id="rId16"/>
      <p:bold r:id="rId17"/>
      <p:italic r:id="rId18"/>
      <p:boldItalic r:id="rId19"/>
    </p:embeddedFont>
    <p:embeddedFont>
      <p:font typeface="Anaheim"/>
      <p:regular r:id="rId20"/>
      <p:bold r:id="rId21"/>
    </p:embeddedFont>
    <p:embeddedFont>
      <p:font typeface="Bebas Neue"/>
      <p:regular r:id="rId22"/>
    </p:embeddedFont>
    <p:embeddedFont>
      <p:font typeface="Quicksand"/>
      <p:regular r:id="rId23"/>
      <p:bold r:id="rId24"/>
    </p:embeddedFont>
    <p:embeddedFont>
      <p:font typeface="Quicksand SemiBold"/>
      <p:regular r:id="rId25"/>
      <p:bold r:id="rId26"/>
    </p:embeddedFont>
    <p:embeddedFont>
      <p:font typeface="PT Sans"/>
      <p:regular r:id="rId27"/>
      <p:bold r:id="rId28"/>
      <p:italic r:id="rId29"/>
      <p:boldItalic r:id="rId30"/>
    </p:embeddedFont>
    <p:embeddedFont>
      <p:font typeface="Mulish Medium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aheim-regular.fntdata"/><Relationship Id="rId22" Type="http://schemas.openxmlformats.org/officeDocument/2006/relationships/font" Target="fonts/BebasNeue-regular.fntdata"/><Relationship Id="rId21" Type="http://schemas.openxmlformats.org/officeDocument/2006/relationships/font" Target="fonts/Anaheim-bold.fntdata"/><Relationship Id="rId24" Type="http://schemas.openxmlformats.org/officeDocument/2006/relationships/font" Target="fonts/Quicksand-bold.fntdata"/><Relationship Id="rId23" Type="http://schemas.openxmlformats.org/officeDocument/2006/relationships/font" Target="fonts/Quicksa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icksandSemiBold-bold.fntdata"/><Relationship Id="rId25" Type="http://schemas.openxmlformats.org/officeDocument/2006/relationships/font" Target="fonts/QuicksandSemiBold-regular.fntdata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ulishMedium-regular.fntdata"/><Relationship Id="rId30" Type="http://schemas.openxmlformats.org/officeDocument/2006/relationships/font" Target="fonts/PTSans-boldItalic.fntdata"/><Relationship Id="rId11" Type="http://schemas.openxmlformats.org/officeDocument/2006/relationships/slide" Target="slides/slide7.xml"/><Relationship Id="rId33" Type="http://schemas.openxmlformats.org/officeDocument/2006/relationships/font" Target="fonts/MulishMedium-italic.fntdata"/><Relationship Id="rId10" Type="http://schemas.openxmlformats.org/officeDocument/2006/relationships/slide" Target="slides/slide6.xml"/><Relationship Id="rId32" Type="http://schemas.openxmlformats.org/officeDocument/2006/relationships/font" Target="fonts/MulishMedium-bold.fntdata"/><Relationship Id="rId13" Type="http://schemas.openxmlformats.org/officeDocument/2006/relationships/slide" Target="slides/slide9.xml"/><Relationship Id="rId35" Type="http://schemas.openxmlformats.org/officeDocument/2006/relationships/font" Target="fonts/DMSans-regular.fntdata"/><Relationship Id="rId12" Type="http://schemas.openxmlformats.org/officeDocument/2006/relationships/slide" Target="slides/slide8.xml"/><Relationship Id="rId34" Type="http://schemas.openxmlformats.org/officeDocument/2006/relationships/font" Target="fonts/MulishMedium-boldItalic.fntdata"/><Relationship Id="rId15" Type="http://schemas.openxmlformats.org/officeDocument/2006/relationships/slide" Target="slides/slide11.xml"/><Relationship Id="rId37" Type="http://schemas.openxmlformats.org/officeDocument/2006/relationships/font" Target="fonts/DMSans-italic.fntdata"/><Relationship Id="rId14" Type="http://schemas.openxmlformats.org/officeDocument/2006/relationships/slide" Target="slides/slide10.xml"/><Relationship Id="rId36" Type="http://schemas.openxmlformats.org/officeDocument/2006/relationships/font" Target="fonts/DMSans-bold.fntdata"/><Relationship Id="rId17" Type="http://schemas.openxmlformats.org/officeDocument/2006/relationships/font" Target="fonts/Mulish-bold.fntdata"/><Relationship Id="rId16" Type="http://schemas.openxmlformats.org/officeDocument/2006/relationships/font" Target="fonts/Mulish-regular.fntdata"/><Relationship Id="rId38" Type="http://schemas.openxmlformats.org/officeDocument/2006/relationships/font" Target="fonts/DMSans-boldItalic.fntdata"/><Relationship Id="rId19" Type="http://schemas.openxmlformats.org/officeDocument/2006/relationships/font" Target="fonts/Mulish-boldItalic.fntdata"/><Relationship Id="rId18" Type="http://schemas.openxmlformats.org/officeDocument/2006/relationships/font" Target="fonts/Mulish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743f5b213c9ac9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743f5b213c9ac9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161ca7da6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161ca7da6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3f6155f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3f6155f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f6590a22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f6590a22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f6590a22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6f6590a22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dd46dd1d6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dd46dd1d6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6f6590a22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6f6590a22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f6590a22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6f6590a2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3f6155f6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3f6155f6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d9256fe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d9256fe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6" name="Google Shape;66;p7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0" name="Google Shape;130;p14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0" name="Google Shape;140;p15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1" name="Google Shape;151;p16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6" name="Google Shape;17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1" name="Google Shape;19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6" name="Google Shape;20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3" name="Google Shape;22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1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dk2"/>
                </a:solidFill>
              </a:defRPr>
            </a:lvl1pPr>
            <a:lvl2pPr lvl="1" rtl="0" algn="ctr">
              <a:buNone/>
              <a:defRPr>
                <a:solidFill>
                  <a:schemeClr val="dk2"/>
                </a:solidFill>
              </a:defRPr>
            </a:lvl2pPr>
            <a:lvl3pPr lvl="2" rtl="0" algn="ctr">
              <a:buNone/>
              <a:defRPr>
                <a:solidFill>
                  <a:schemeClr val="dk2"/>
                </a:solidFill>
              </a:defRPr>
            </a:lvl3pPr>
            <a:lvl4pPr lvl="3" rtl="0" algn="ctr">
              <a:buNone/>
              <a:defRPr>
                <a:solidFill>
                  <a:schemeClr val="dk2"/>
                </a:solidFill>
              </a:defRPr>
            </a:lvl4pPr>
            <a:lvl5pPr lvl="4" rtl="0" algn="ctr">
              <a:buNone/>
              <a:defRPr>
                <a:solidFill>
                  <a:schemeClr val="dk2"/>
                </a:solidFill>
              </a:defRPr>
            </a:lvl5pPr>
            <a:lvl6pPr lvl="5" rtl="0" algn="ctr">
              <a:buNone/>
              <a:defRPr>
                <a:solidFill>
                  <a:schemeClr val="dk2"/>
                </a:solidFill>
              </a:defRPr>
            </a:lvl6pPr>
            <a:lvl7pPr lvl="6" rtl="0" algn="ctr">
              <a:buNone/>
              <a:defRPr>
                <a:solidFill>
                  <a:schemeClr val="dk2"/>
                </a:solidFill>
              </a:defRPr>
            </a:lvl7pPr>
            <a:lvl8pPr lvl="7" rtl="0" algn="ctr">
              <a:buNone/>
              <a:defRPr>
                <a:solidFill>
                  <a:schemeClr val="dk2"/>
                </a:solidFill>
              </a:defRPr>
            </a:lvl8pPr>
            <a:lvl9pPr lvl="8" rtl="0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4" name="Google Shape;244;p22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8" name="Google Shape;258;p23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6" name="Google Shape;266;p24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chemeClr val="lt1"/>
                </a:solidFill>
              </a:defRPr>
            </a:lvl1pPr>
            <a:lvl2pPr lvl="1" rtl="0" algn="ctr">
              <a:buNone/>
              <a:defRPr>
                <a:solidFill>
                  <a:schemeClr val="lt1"/>
                </a:solidFill>
              </a:defRPr>
            </a:lvl2pPr>
            <a:lvl3pPr lvl="2" rtl="0" algn="ctr">
              <a:buNone/>
              <a:defRPr>
                <a:solidFill>
                  <a:schemeClr val="lt1"/>
                </a:solidFill>
              </a:defRPr>
            </a:lvl3pPr>
            <a:lvl4pPr lvl="3" rtl="0" algn="ctr">
              <a:buNone/>
              <a:defRPr>
                <a:solidFill>
                  <a:schemeClr val="lt1"/>
                </a:solidFill>
              </a:defRPr>
            </a:lvl4pPr>
            <a:lvl5pPr lvl="4" rtl="0" algn="ctr">
              <a:buNone/>
              <a:defRPr>
                <a:solidFill>
                  <a:schemeClr val="lt1"/>
                </a:solidFill>
              </a:defRPr>
            </a:lvl5pPr>
            <a:lvl6pPr lvl="5" rtl="0" algn="ctr">
              <a:buNone/>
              <a:defRPr>
                <a:solidFill>
                  <a:schemeClr val="lt1"/>
                </a:solidFill>
              </a:defRPr>
            </a:lvl6pPr>
            <a:lvl7pPr lvl="6" rtl="0" algn="ctr">
              <a:buNone/>
              <a:defRPr>
                <a:solidFill>
                  <a:schemeClr val="lt1"/>
                </a:solidFill>
              </a:defRPr>
            </a:lvl7pPr>
            <a:lvl8pPr lvl="7" rtl="0" algn="ctr">
              <a:buNone/>
              <a:defRPr>
                <a:solidFill>
                  <a:schemeClr val="lt1"/>
                </a:solidFill>
              </a:defRPr>
            </a:lvl8pPr>
            <a:lvl9pPr lvl="8" rtl="0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4" name="Google Shape;274;p2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edium.com/@gideonmarkus/why-data-preprocessing-is-necessary-in-data-science-546235345fdb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kaggle.com/code/artgor/eda-and-models/notebook" TargetMode="External"/><Relationship Id="rId4" Type="http://schemas.openxmlformats.org/officeDocument/2006/relationships/hyperlink" Target="https://www.kaggle.com/code/mehakiftikhar/amazon-sales-dataset-eda#Amazon-Sales-Dataset-EDA" TargetMode="External"/><Relationship Id="rId5" Type="http://schemas.openxmlformats.org/officeDocument/2006/relationships/hyperlink" Target="https://www.kaggle.com/code/ahmedmohameddawoud/ames-housing-handling-outliers-and-missing-data" TargetMode="External"/><Relationship Id="rId6" Type="http://schemas.openxmlformats.org/officeDocument/2006/relationships/hyperlink" Target="https://www.kaggle.com/code/roshinifernando/simple-feature-scaling-techniqu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code/yaranathakur/feature-scaling/notebook" TargetMode="External"/><Relationship Id="rId4" Type="http://schemas.openxmlformats.org/officeDocument/2006/relationships/hyperlink" Target="https://www.kaggle.com/code/prashant111/naive-bayes-classifier-in-python#17.-Calculate-class-probabilities-" TargetMode="External"/><Relationship Id="rId5" Type="http://schemas.openxmlformats.org/officeDocument/2006/relationships/hyperlink" Target="https://www.kaggle.com/code/stieranka/k-nearest-neighbor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fHFOANOHwh8" TargetMode="External"/><Relationship Id="rId4" Type="http://schemas.openxmlformats.org/officeDocument/2006/relationships/hyperlink" Target="https://www.youtube.com/watch?v=fNk_zzaMoSs&amp;list=PLZHQObOWTQDPD3MizzM2xVFitgF8hE_ab" TargetMode="External"/><Relationship Id="rId5" Type="http://schemas.openxmlformats.org/officeDocument/2006/relationships/hyperlink" Target="https://www.youtube.com/watch?v=HZGCoVF3YvM" TargetMode="External"/><Relationship Id="rId6" Type="http://schemas.openxmlformats.org/officeDocument/2006/relationships/hyperlink" Target="https://www.youtube.com/watch?v=HVXime0nQeI" TargetMode="External"/><Relationship Id="rId7" Type="http://schemas.openxmlformats.org/officeDocument/2006/relationships/hyperlink" Target="https://www.youtube.com/watch?v=i_LwzRVP7bg" TargetMode="External"/><Relationship Id="rId8" Type="http://schemas.openxmlformats.org/officeDocument/2006/relationships/hyperlink" Target="https://www.youtube.com/watch?v=iaZQF8SLHJ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kaggle.com/datasets/matheusfonsecachaves/popular-video-games/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8544" y="2841400"/>
            <a:ext cx="1130481" cy="12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057" y="2917600"/>
            <a:ext cx="1169718" cy="11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>
            <p:ph type="ctrTitle"/>
          </p:nvPr>
        </p:nvSpPr>
        <p:spPr>
          <a:xfrm>
            <a:off x="156162" y="12"/>
            <a:ext cx="8848800" cy="20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rgbClr val="5B0F00"/>
                </a:solidFill>
              </a:rPr>
              <a:t>CVIS Hands-on Training on Development of Machine Learning and Deep Learning Models Summer 2025</a:t>
            </a:r>
            <a:endParaRPr b="1" sz="3250">
              <a:solidFill>
                <a:srgbClr val="5B0F00"/>
              </a:solidFill>
            </a:endParaRPr>
          </a:p>
        </p:txBody>
      </p:sp>
      <p:sp>
        <p:nvSpPr>
          <p:cNvPr id="282" name="Google Shape;282;p26"/>
          <p:cNvSpPr txBox="1"/>
          <p:nvPr>
            <p:ph idx="1" type="subTitle"/>
          </p:nvPr>
        </p:nvSpPr>
        <p:spPr>
          <a:xfrm>
            <a:off x="1600575" y="4016115"/>
            <a:ext cx="5942700" cy="9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0000"/>
                </a:solidFill>
              </a:rPr>
              <a:t>Computer Vision and Intelligent Systems Lab</a:t>
            </a:r>
            <a:endParaRPr sz="180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Dept. Of Computer Science and Engineering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</a:rPr>
              <a:t>School of Data and Sciences, BRAC University</a:t>
            </a:r>
            <a:endParaRPr sz="1800">
              <a:solidFill>
                <a:srgbClr val="0B5394"/>
              </a:solidFill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 flipH="1" rot="10800000">
            <a:off x="1560224" y="4071293"/>
            <a:ext cx="6093600" cy="7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84" name="Google Shape;284;p26"/>
          <p:cNvCxnSpPr/>
          <p:nvPr/>
        </p:nvCxnSpPr>
        <p:spPr>
          <a:xfrm flipH="1" rot="10800000">
            <a:off x="1609200" y="1865513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85" name="Google Shape;285;p26"/>
          <p:cNvSpPr txBox="1"/>
          <p:nvPr/>
        </p:nvSpPr>
        <p:spPr>
          <a:xfrm>
            <a:off x="1498126" y="2214587"/>
            <a:ext cx="6147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Facilitator</a:t>
            </a: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Anika Tahsin</a:t>
            </a: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Research </a:t>
            </a:r>
            <a:r>
              <a:rPr lang="en" sz="1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Assistant</a:t>
            </a:r>
            <a:endParaRPr sz="18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-81503" y="3347877"/>
            <a:ext cx="1090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 flipH="1">
            <a:off x="906822" y="3266375"/>
            <a:ext cx="23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7"/>
          <p:cNvSpPr txBox="1"/>
          <p:nvPr>
            <p:ph type="title"/>
          </p:nvPr>
        </p:nvSpPr>
        <p:spPr>
          <a:xfrm>
            <a:off x="720000" y="970300"/>
            <a:ext cx="7836900" cy="35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200">
                <a:solidFill>
                  <a:srgbClr val="000000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Data Preprocessing and Linear Models</a:t>
            </a:r>
            <a:endParaRPr b="0" sz="5200"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454150" y="1909113"/>
            <a:ext cx="8235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Open Kaggle Account</a:t>
            </a:r>
            <a:endParaRPr sz="4000"/>
          </a:p>
        </p:txBody>
      </p:sp>
      <p:sp>
        <p:nvSpPr>
          <p:cNvPr id="299" name="Google Shape;299;p28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** If you already haven’t **</a:t>
            </a:r>
            <a:endParaRPr sz="20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</a:t>
            </a:r>
            <a:endParaRPr u="sng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P.S. Need Contact Verification to use Internet on Kaggle</a:t>
            </a:r>
            <a:endParaRPr sz="2000"/>
          </a:p>
        </p:txBody>
      </p:sp>
      <p:sp>
        <p:nvSpPr>
          <p:cNvPr id="300" name="Google Shape;300;p28"/>
          <p:cNvSpPr txBox="1"/>
          <p:nvPr>
            <p:ph idx="2" type="title"/>
          </p:nvPr>
        </p:nvSpPr>
        <p:spPr>
          <a:xfrm>
            <a:off x="3977109" y="628055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1" name="Google Shape;301;p2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2" name="Google Shape;302;p28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03" name="Google Shape;303;p28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1101000" y="749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Data Preprocessing?</a:t>
            </a:r>
            <a:endParaRPr/>
          </a:p>
        </p:txBody>
      </p:sp>
      <p:sp>
        <p:nvSpPr>
          <p:cNvPr id="309" name="Google Shape;309;p29"/>
          <p:cNvSpPr txBox="1"/>
          <p:nvPr>
            <p:ph idx="1" type="body"/>
          </p:nvPr>
        </p:nvSpPr>
        <p:spPr>
          <a:xfrm>
            <a:off x="720000" y="1596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Quality Ensure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Handling Missing Value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Complexity Handle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Ref: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Why Data Preprocessing is Necessary in Data Science</a:t>
            </a:r>
            <a:endParaRPr sz="1800" u="sng"/>
          </a:p>
        </p:txBody>
      </p:sp>
      <p:sp>
        <p:nvSpPr>
          <p:cNvPr id="310" name="Google Shape;310;p2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29"/>
          <p:cNvSpPr txBox="1"/>
          <p:nvPr>
            <p:ph idx="4294967295" type="title"/>
          </p:nvPr>
        </p:nvSpPr>
        <p:spPr>
          <a:xfrm>
            <a:off x="395651" y="743309"/>
            <a:ext cx="8694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02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idx="1" type="body"/>
          </p:nvPr>
        </p:nvSpPr>
        <p:spPr>
          <a:xfrm>
            <a:off x="443925" y="883475"/>
            <a:ext cx="8250300" cy="3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1. Understand the structure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df.head()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, 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df.tail()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peek at the data; 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df.shape()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check rows and columns; 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df.info()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see data types and missing values; 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df.describe()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basic statistics (mean, percentiles)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2. Check for missing or unique values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ulish Medium"/>
              <a:buChar char="●"/>
            </a:pP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df.isnull().sum()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missing values; 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df.nunique()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– unique values per column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3. Visualize distributions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Histograms (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sns.histplot()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, 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plt.hist()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); Boxplots (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sns.boxplot()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); Scatter plots (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sns.scatterplot()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)</a:t>
            </a:r>
            <a:endParaRPr sz="1600"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17" name="Google Shape;317;p30"/>
          <p:cNvSpPr txBox="1"/>
          <p:nvPr>
            <p:ph type="title"/>
          </p:nvPr>
        </p:nvSpPr>
        <p:spPr>
          <a:xfrm>
            <a:off x="1101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EDA Techniques</a:t>
            </a:r>
            <a:endParaRPr/>
          </a:p>
        </p:txBody>
      </p:sp>
      <p:sp>
        <p:nvSpPr>
          <p:cNvPr id="318" name="Google Shape;318;p3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>
            <p:ph type="title"/>
          </p:nvPr>
        </p:nvSpPr>
        <p:spPr>
          <a:xfrm>
            <a:off x="1101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EDA Techniques</a:t>
            </a:r>
            <a:endParaRPr/>
          </a:p>
        </p:txBody>
      </p:sp>
      <p:sp>
        <p:nvSpPr>
          <p:cNvPr id="324" name="Google Shape;324;p31"/>
          <p:cNvSpPr txBox="1"/>
          <p:nvPr>
            <p:ph idx="1" type="body"/>
          </p:nvPr>
        </p:nvSpPr>
        <p:spPr>
          <a:xfrm>
            <a:off x="596325" y="1264475"/>
            <a:ext cx="8277900" cy="31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4. Look at relationships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Correlation matrix (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df.corr()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); Heatmaps (</a:t>
            </a: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sns.heatmap()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)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5. Categorical analysis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ulish Medium"/>
              <a:buChar char="●"/>
            </a:pPr>
            <a:r>
              <a:rPr lang="en" sz="1600">
                <a:solidFill>
                  <a:srgbClr val="188038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value_counts()</a:t>
            </a: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 for class distribution; Bar plots for category comparison</a:t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25" name="Google Shape;325;p3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32"/>
          <p:cNvSpPr txBox="1"/>
          <p:nvPr>
            <p:ph idx="4294967295" type="title"/>
          </p:nvPr>
        </p:nvSpPr>
        <p:spPr>
          <a:xfrm>
            <a:off x="438576" y="575500"/>
            <a:ext cx="8694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03</a:t>
            </a:r>
            <a:endParaRPr sz="3200"/>
          </a:p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1368151" y="642700"/>
            <a:ext cx="5645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Do We Code Data Pre-processing?</a:t>
            </a:r>
            <a:endParaRPr sz="3000"/>
          </a:p>
        </p:txBody>
      </p:sp>
      <p:sp>
        <p:nvSpPr>
          <p:cNvPr id="333" name="Google Shape;333;p32"/>
          <p:cNvSpPr txBox="1"/>
          <p:nvPr>
            <p:ph type="title"/>
          </p:nvPr>
        </p:nvSpPr>
        <p:spPr>
          <a:xfrm>
            <a:off x="616450" y="1227900"/>
            <a:ext cx="8069700" cy="30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EDA + Feature Engineering:</a:t>
            </a:r>
            <a:r>
              <a:rPr lang="en" sz="2000"/>
              <a:t> </a:t>
            </a:r>
            <a:r>
              <a:rPr b="0" lang="en" sz="12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EDA and models</a:t>
            </a:r>
            <a:r>
              <a:rPr lang="en" sz="1200"/>
              <a:t>, </a:t>
            </a:r>
            <a:r>
              <a:rPr b="0" lang="en" sz="1100" u="sng">
                <a:solidFill>
                  <a:srgbClr val="1155CC"/>
                </a:solid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Amazon Sales Dataset EDA</a:t>
            </a:r>
            <a:r>
              <a:rPr lang="en" sz="1200"/>
              <a:t> (FE)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Missing Data Handle + Outliers:</a:t>
            </a:r>
            <a:r>
              <a:rPr lang="en" sz="1200"/>
              <a:t> </a:t>
            </a:r>
            <a:r>
              <a:rPr b="0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Ames Housing: Handling Outliers and Missing Data</a:t>
            </a:r>
            <a:endParaRPr b="0" sz="1200"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Feature Scaling + Normalization:</a:t>
            </a:r>
            <a:r>
              <a:rPr lang="en" sz="1200"/>
              <a:t> </a:t>
            </a:r>
            <a:r>
              <a:rPr b="0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Simple Feature Scaling Techniques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720000" y="382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main Feature Scaling Techniques</a:t>
            </a:r>
            <a:endParaRPr/>
          </a:p>
        </p:txBody>
      </p:sp>
      <p:sp>
        <p:nvSpPr>
          <p:cNvPr id="339" name="Google Shape;339;p3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33"/>
          <p:cNvSpPr txBox="1"/>
          <p:nvPr>
            <p:ph idx="1" type="body"/>
          </p:nvPr>
        </p:nvSpPr>
        <p:spPr>
          <a:xfrm>
            <a:off x="364925" y="883475"/>
            <a:ext cx="8551200" cy="3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C4043"/>
              </a:solidFill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C4043"/>
                </a:solidFill>
                <a:highlight>
                  <a:schemeClr val="lt2"/>
                </a:highlight>
                <a:latin typeface="Mulish Medium"/>
                <a:ea typeface="Mulish Medium"/>
                <a:cs typeface="Mulish Medium"/>
                <a:sym typeface="Mulish Medium"/>
              </a:rPr>
              <a:t>1. </a:t>
            </a: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Min-Max Scaling (Normalization)</a:t>
            </a:r>
            <a:endParaRPr sz="1600">
              <a:solidFill>
                <a:srgbClr val="202214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2. Standardization (Z-score Scaling)</a:t>
            </a:r>
            <a:endParaRPr sz="1600">
              <a:solidFill>
                <a:srgbClr val="202214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3. Absolute Maximum Scaling</a:t>
            </a:r>
            <a:endParaRPr sz="1600">
              <a:solidFill>
                <a:srgbClr val="202214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4. Robust Scaling</a:t>
            </a:r>
            <a:endParaRPr sz="1600">
              <a:solidFill>
                <a:srgbClr val="202214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5. Quantile Transformation</a:t>
            </a:r>
            <a:endParaRPr sz="1600">
              <a:solidFill>
                <a:srgbClr val="202214"/>
              </a:solidFill>
              <a:latin typeface="Mulish Medium"/>
              <a:ea typeface="Mulish Medium"/>
              <a:cs typeface="Mulish Medium"/>
              <a:sym typeface="Mulish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02214"/>
                </a:solidFill>
                <a:latin typeface="Mulish Medium"/>
                <a:ea typeface="Mulish Medium"/>
                <a:cs typeface="Mulish Medium"/>
                <a:sym typeface="Mulish Medium"/>
              </a:rPr>
              <a:t>6. Power Transformation</a:t>
            </a:r>
            <a:endParaRPr sz="1600">
              <a:highlight>
                <a:schemeClr val="lt2"/>
              </a:highlight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34"/>
          <p:cNvSpPr txBox="1"/>
          <p:nvPr>
            <p:ph idx="4294967295" type="title"/>
          </p:nvPr>
        </p:nvSpPr>
        <p:spPr>
          <a:xfrm>
            <a:off x="438576" y="575500"/>
            <a:ext cx="8694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03</a:t>
            </a:r>
            <a:endParaRPr sz="3200"/>
          </a:p>
        </p:txBody>
      </p:sp>
      <p:sp>
        <p:nvSpPr>
          <p:cNvPr id="347" name="Google Shape;347;p34"/>
          <p:cNvSpPr txBox="1"/>
          <p:nvPr>
            <p:ph type="title"/>
          </p:nvPr>
        </p:nvSpPr>
        <p:spPr>
          <a:xfrm>
            <a:off x="616450" y="1227900"/>
            <a:ext cx="8069700" cy="30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Regression (Predictive Model): </a:t>
            </a:r>
            <a:r>
              <a:rPr b="0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Feature Scaling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Naive Bayesian (Classification Task): </a:t>
            </a:r>
            <a:r>
              <a:rPr b="0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Naive Bayes Classifier in Python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Nearest Neighbors (Classification Task):  </a:t>
            </a:r>
            <a:r>
              <a:rPr b="0"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K-Nearest Neighbors</a:t>
            </a:r>
            <a:endParaRPr b="0" sz="11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34"/>
          <p:cNvSpPr txBox="1"/>
          <p:nvPr>
            <p:ph type="title"/>
          </p:nvPr>
        </p:nvSpPr>
        <p:spPr>
          <a:xfrm>
            <a:off x="1368151" y="642700"/>
            <a:ext cx="5645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Do We Code Algorithms?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Helpful Youtube Links</a:t>
            </a:r>
            <a:endParaRPr/>
          </a:p>
        </p:txBody>
      </p:sp>
      <p:sp>
        <p:nvSpPr>
          <p:cNvPr id="354" name="Google Shape;354;p35"/>
          <p:cNvSpPr txBox="1"/>
          <p:nvPr>
            <p:ph idx="1" type="subTitle"/>
          </p:nvPr>
        </p:nvSpPr>
        <p:spPr>
          <a:xfrm>
            <a:off x="720025" y="1283062"/>
            <a:ext cx="7704000" cy="30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</a:t>
            </a:r>
            <a:r>
              <a:rPr lang="en"/>
              <a:t>: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AutoNum type="arabicPeriod"/>
            </a:pP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Complete Exploratory Data Analysis And Feature Engineering In 3 Hours| Krish Naik</a:t>
            </a:r>
            <a:endParaRPr>
              <a:solidFill>
                <a:srgbClr val="1155CC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AutoNum type="arabicPeriod"/>
            </a:pP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Vectors | Chapter 1, Essence of linear algebra</a:t>
            </a:r>
            <a:r>
              <a:rPr lang="en">
                <a:solidFill>
                  <a:srgbClr val="1155CC"/>
                </a:solidFill>
              </a:rPr>
              <a:t> (Linear Algebra)</a:t>
            </a:r>
            <a:endParaRPr>
              <a:solidFill>
                <a:srgbClr val="1155CC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AutoNum type="arabicPeriod"/>
            </a:pPr>
            <a:r>
              <a:rPr lang="en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Bayes theorem, the geometry of changing beliefs</a:t>
            </a:r>
            <a:endParaRPr>
              <a:solidFill>
                <a:srgbClr val="1155CC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400"/>
              <a:buAutoNum type="arabicPeriod"/>
            </a:pPr>
            <a:r>
              <a:rPr lang="en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StatQuest: K-nearest neighbors, Clearly Explained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Code:</a:t>
            </a:r>
            <a:br>
              <a:rPr lang="en"/>
            </a:br>
            <a:r>
              <a:rPr lang="en"/>
              <a:t>	1. </a:t>
            </a:r>
            <a:r>
              <a:rPr lang="en" u="sng">
                <a:solidFill>
                  <a:srgbClr val="1155CC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Machine Learning for Everybody – Full Course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	</a:t>
            </a:r>
            <a:r>
              <a:rPr lang="en"/>
              <a:t>2. </a:t>
            </a:r>
            <a:r>
              <a:rPr lang="en" u="sng">
                <a:solidFill>
                  <a:srgbClr val="1155CC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 World Data Cleaning in Python Pandas (Step By Step)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55" name="Google Shape;355;p3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idx="1" type="subTitle"/>
          </p:nvPr>
        </p:nvSpPr>
        <p:spPr>
          <a:xfrm>
            <a:off x="969900" y="1832550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to apply what you learned on: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Popular Video Games 🎮🕹️</a:t>
            </a:r>
            <a:endParaRPr sz="2000"/>
          </a:p>
        </p:txBody>
      </p:sp>
      <p:sp>
        <p:nvSpPr>
          <p:cNvPr id="361" name="Google Shape;361;p3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