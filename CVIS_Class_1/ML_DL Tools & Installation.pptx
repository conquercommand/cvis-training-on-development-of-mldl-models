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hmvHV3vKFoMOT8MKwAJU9b9PmW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f565e952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6f565e952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wnload.pytorch.org/whl/cu118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sciencedirect.com/journal/data-in-brief" TargetMode="External"/><Relationship Id="rId4" Type="http://schemas.openxmlformats.org/officeDocument/2006/relationships/hyperlink" Target="https://data.mendeley.com/" TargetMode="External"/><Relationship Id="rId5" Type="http://schemas.openxmlformats.org/officeDocument/2006/relationships/hyperlink" Target="https://www.kaggle.com/" TargetMode="External"/><Relationship Id="rId6" Type="http://schemas.openxmlformats.org/officeDocument/2006/relationships/hyperlink" Target="https://paperswithcode.com/datasets" TargetMode="External"/><Relationship Id="rId7" Type="http://schemas.openxmlformats.org/officeDocument/2006/relationships/hyperlink" Target="https://www.cancerimagingarchive.net/browse-collection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g36f565e952a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7057" y="2689000"/>
            <a:ext cx="1169718" cy="116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g36f565e952a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8544" y="2689000"/>
            <a:ext cx="1130481" cy="1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g36f565e952a_1_0"/>
          <p:cNvSpPr txBox="1"/>
          <p:nvPr>
            <p:ph type="ctrTitle"/>
          </p:nvPr>
        </p:nvSpPr>
        <p:spPr>
          <a:xfrm>
            <a:off x="311700" y="382350"/>
            <a:ext cx="8520600" cy="125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280">
                <a:solidFill>
                  <a:srgbClr val="5B0F00"/>
                </a:solidFill>
              </a:rPr>
              <a:t>CVIS Hands-on Training on Development </a:t>
            </a:r>
            <a:r>
              <a:rPr b="1" lang="en" sz="3080">
                <a:solidFill>
                  <a:srgbClr val="5B0F00"/>
                </a:solidFill>
              </a:rPr>
              <a:t>of </a:t>
            </a:r>
            <a:r>
              <a:rPr b="1" lang="en" sz="2780">
                <a:solidFill>
                  <a:srgbClr val="5B0F00"/>
                </a:solidFill>
              </a:rPr>
              <a:t>Machine Learning and Deep Learning Models</a:t>
            </a:r>
            <a:endParaRPr b="1" sz="2780">
              <a:solidFill>
                <a:srgbClr val="5B0F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980">
                <a:solidFill>
                  <a:srgbClr val="741B47"/>
                </a:solidFill>
              </a:rPr>
              <a:t>Summer 2025</a:t>
            </a:r>
            <a:endParaRPr b="1" sz="2980">
              <a:solidFill>
                <a:srgbClr val="741B47"/>
              </a:solidFill>
            </a:endParaRPr>
          </a:p>
        </p:txBody>
      </p:sp>
      <p:sp>
        <p:nvSpPr>
          <p:cNvPr id="57" name="Google Shape;57;g36f565e952a_1_0"/>
          <p:cNvSpPr txBox="1"/>
          <p:nvPr>
            <p:ph idx="1" type="subTitle"/>
          </p:nvPr>
        </p:nvSpPr>
        <p:spPr>
          <a:xfrm>
            <a:off x="311700" y="1655975"/>
            <a:ext cx="8520600" cy="10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7691"/>
              <a:buNone/>
            </a:pPr>
            <a:r>
              <a:rPr b="1" lang="en" sz="2600">
                <a:solidFill>
                  <a:srgbClr val="134F5C"/>
                </a:solidFill>
              </a:rPr>
              <a:t>Facilitator</a:t>
            </a:r>
            <a:r>
              <a:rPr b="1" lang="en" sz="2600"/>
              <a:t> </a:t>
            </a:r>
            <a:endParaRPr b="1" sz="26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7691"/>
              <a:buNone/>
            </a:pPr>
            <a:r>
              <a:rPr b="1" lang="en" sz="2600">
                <a:solidFill>
                  <a:srgbClr val="5B0F00"/>
                </a:solidFill>
              </a:rPr>
              <a:t>Shammo Biswas</a:t>
            </a:r>
            <a:endParaRPr b="1" sz="2600">
              <a:solidFill>
                <a:srgbClr val="5B0F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8262"/>
              <a:buNone/>
            </a:pPr>
            <a:r>
              <a:rPr b="1" lang="en" sz="2183">
                <a:solidFill>
                  <a:srgbClr val="134F5C"/>
                </a:solidFill>
              </a:rPr>
              <a:t>Research</a:t>
            </a:r>
            <a:r>
              <a:rPr b="1" lang="en" sz="2183">
                <a:solidFill>
                  <a:srgbClr val="134F5C"/>
                </a:solidFill>
              </a:rPr>
              <a:t> Assistant</a:t>
            </a:r>
            <a:r>
              <a:rPr b="1" lang="en" sz="2183">
                <a:solidFill>
                  <a:srgbClr val="134F5C"/>
                </a:solidFill>
              </a:rPr>
              <a:t> of CVIS Research Lab</a:t>
            </a:r>
            <a:endParaRPr b="1" sz="2183">
              <a:solidFill>
                <a:srgbClr val="134F5C"/>
              </a:solidFill>
            </a:endParaRPr>
          </a:p>
        </p:txBody>
      </p:sp>
      <p:sp>
        <p:nvSpPr>
          <p:cNvPr id="58" name="Google Shape;58;g36f565e952a_1_0"/>
          <p:cNvSpPr txBox="1"/>
          <p:nvPr/>
        </p:nvSpPr>
        <p:spPr>
          <a:xfrm>
            <a:off x="1668600" y="4037250"/>
            <a:ext cx="58068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750" u="none" cap="none" strike="noStrike">
                <a:solidFill>
                  <a:srgbClr val="5B0F00"/>
                </a:solidFill>
                <a:latin typeface="Arial"/>
                <a:ea typeface="Arial"/>
                <a:cs typeface="Arial"/>
                <a:sym typeface="Arial"/>
              </a:rPr>
              <a:t>Computer Vision and Intelligent Systems Lab</a:t>
            </a:r>
            <a:endParaRPr b="1" i="0" sz="1750" u="none" cap="none" strike="noStrike">
              <a:solidFill>
                <a:srgbClr val="5B0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8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Dept. of Computer Science and Engineering</a:t>
            </a:r>
            <a:r>
              <a:rPr b="1" i="0" lang="en" sz="17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7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7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School of Data and Sciences, BRAC University</a:t>
            </a:r>
            <a:endParaRPr b="1" i="0" sz="17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ML/DL Tools &amp; Installation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Why Do We Need Tools for Machine Learning &amp; Deep Learning?</a:t>
            </a:r>
            <a:endParaRPr/>
          </a:p>
        </p:txBody>
      </p:sp>
      <p:sp>
        <p:nvSpPr>
          <p:cNvPr id="69" name="Google Shape;69;p2"/>
          <p:cNvSpPr txBox="1"/>
          <p:nvPr>
            <p:ph idx="1" type="body"/>
          </p:nvPr>
        </p:nvSpPr>
        <p:spPr>
          <a:xfrm>
            <a:off x="311700" y="1572450"/>
            <a:ext cx="8520600" cy="29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Machine Learning (ML) and Deep Learning (DL) involve complex workflows such as: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Data collection and cleaning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Model design and training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Evaluation, tuning, and deployment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Tools help simplify, standardise, and accelerate these tasks.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Types of Tools Needed</a:t>
            </a:r>
            <a:endParaRPr/>
          </a:p>
        </p:txBody>
      </p:sp>
      <p:sp>
        <p:nvSpPr>
          <p:cNvPr id="75" name="Google Shape;75;p3"/>
          <p:cNvSpPr txBox="1"/>
          <p:nvPr>
            <p:ph idx="1" type="body"/>
          </p:nvPr>
        </p:nvSpPr>
        <p:spPr>
          <a:xfrm>
            <a:off x="311700" y="1152475"/>
            <a:ext cx="8520600" cy="4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422">
                <a:solidFill>
                  <a:schemeClr val="dk1"/>
                </a:solidFill>
              </a:rPr>
              <a:t>Data Handling Tools</a:t>
            </a:r>
            <a:endParaRPr sz="1422">
              <a:solidFill>
                <a:schemeClr val="dk1"/>
              </a:solidFill>
            </a:endParaRPr>
          </a:p>
          <a:p>
            <a:pPr indent="-31892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23"/>
              <a:buChar char="●"/>
            </a:pPr>
            <a:r>
              <a:rPr lang="en" sz="1422">
                <a:solidFill>
                  <a:schemeClr val="dk1"/>
                </a:solidFill>
              </a:rPr>
              <a:t>For importing, cleaning, transforming, and visualising data. </a:t>
            </a:r>
            <a:r>
              <a:rPr lang="en" sz="1422">
                <a:solidFill>
                  <a:srgbClr val="0000FF"/>
                </a:solidFill>
              </a:rPr>
              <a:t>Examples: Pandas, NumPy, Matplotlib.</a:t>
            </a:r>
            <a:br>
              <a:rPr lang="en" sz="1422">
                <a:solidFill>
                  <a:schemeClr val="dk1"/>
                </a:solidFill>
              </a:rPr>
            </a:br>
            <a:endParaRPr sz="142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en" sz="1422">
                <a:solidFill>
                  <a:schemeClr val="dk1"/>
                </a:solidFill>
              </a:rPr>
              <a:t>Model Building Frameworks</a:t>
            </a:r>
            <a:endParaRPr sz="1422">
              <a:solidFill>
                <a:schemeClr val="dk1"/>
              </a:solidFill>
            </a:endParaRPr>
          </a:p>
          <a:p>
            <a:pPr indent="-31892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23"/>
              <a:buChar char="●"/>
            </a:pPr>
            <a:r>
              <a:rPr lang="en" sz="1422">
                <a:solidFill>
                  <a:schemeClr val="dk1"/>
                </a:solidFill>
              </a:rPr>
              <a:t>For defining and training ML/DL models. </a:t>
            </a:r>
            <a:r>
              <a:rPr lang="en" sz="1422">
                <a:solidFill>
                  <a:srgbClr val="0000FF"/>
                </a:solidFill>
              </a:rPr>
              <a:t>Examples: TensorFlow, PyTorch, Scikit-learn.</a:t>
            </a:r>
            <a:br>
              <a:rPr lang="en" sz="1422">
                <a:solidFill>
                  <a:schemeClr val="dk1"/>
                </a:solidFill>
              </a:rPr>
            </a:br>
            <a:endParaRPr sz="142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422">
                <a:solidFill>
                  <a:schemeClr val="dk1"/>
                </a:solidFill>
              </a:rPr>
              <a:t>Development Environments</a:t>
            </a:r>
            <a:endParaRPr sz="1422">
              <a:solidFill>
                <a:schemeClr val="dk1"/>
              </a:solidFill>
            </a:endParaRPr>
          </a:p>
          <a:p>
            <a:pPr indent="-31892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23"/>
              <a:buChar char="●"/>
            </a:pPr>
            <a:r>
              <a:rPr lang="en" sz="1422">
                <a:solidFill>
                  <a:schemeClr val="dk1"/>
                </a:solidFill>
              </a:rPr>
              <a:t>For writing and testing code in a flexible interface. </a:t>
            </a:r>
            <a:r>
              <a:rPr lang="en" sz="1422">
                <a:solidFill>
                  <a:srgbClr val="0000FF"/>
                </a:solidFill>
              </a:rPr>
              <a:t>Examples: Jupyter Notebook, VSCode, Colab, Kaggle.</a:t>
            </a:r>
            <a:br>
              <a:rPr lang="en" sz="1422">
                <a:solidFill>
                  <a:schemeClr val="dk1"/>
                </a:solidFill>
              </a:rPr>
            </a:br>
            <a:endParaRPr sz="142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" sz="1422">
                <a:solidFill>
                  <a:schemeClr val="dk1"/>
                </a:solidFill>
              </a:rPr>
              <a:t>Hardware Acceleration &amp; Libraries</a:t>
            </a:r>
            <a:endParaRPr sz="1422">
              <a:solidFill>
                <a:schemeClr val="dk1"/>
              </a:solidFill>
            </a:endParaRPr>
          </a:p>
          <a:p>
            <a:pPr indent="-318928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23"/>
              <a:buChar char="●"/>
            </a:pPr>
            <a:r>
              <a:rPr lang="en" sz="1422">
                <a:solidFill>
                  <a:schemeClr val="dk1"/>
                </a:solidFill>
              </a:rPr>
              <a:t>For utilising GPUs/TPUs to speed up training. </a:t>
            </a:r>
            <a:r>
              <a:rPr lang="en" sz="1422">
                <a:solidFill>
                  <a:srgbClr val="0000FF"/>
                </a:solidFill>
              </a:rPr>
              <a:t>Examples: CUDA, cuDNN.</a:t>
            </a:r>
            <a:endParaRPr sz="1422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754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You Need for Local ML/DL Setup</a:t>
            </a:r>
            <a:endParaRPr/>
          </a:p>
        </p:txBody>
      </p:sp>
      <p:sp>
        <p:nvSpPr>
          <p:cNvPr id="81" name="Google Shape;8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500">
                <a:solidFill>
                  <a:schemeClr val="dk1"/>
                </a:solidFill>
              </a:rPr>
              <a:t>GPU is Crucial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en" sz="1500">
                <a:solidFill>
                  <a:schemeClr val="dk1"/>
                </a:solidFill>
              </a:rPr>
              <a:t>Deep Learning models rely on parallel computation. GPUs massively speed up training.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en" sz="1500">
                <a:solidFill>
                  <a:schemeClr val="dk1"/>
                </a:solidFill>
              </a:rPr>
              <a:t>For NVIDIA users, recommended is RTX series GPUs (e.g., RTX 2060 or above).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romanLcPeriod"/>
            </a:pPr>
            <a:r>
              <a:rPr lang="en" sz="1500">
                <a:solidFill>
                  <a:schemeClr val="dk1"/>
                </a:solidFill>
              </a:rPr>
              <a:t>These have more CUDA cores, leading to faster training and lower latency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lphaLcPeriod"/>
            </a:pPr>
            <a:r>
              <a:rPr lang="en" sz="1500">
                <a:solidFill>
                  <a:schemeClr val="dk1"/>
                </a:solidFill>
              </a:rPr>
              <a:t>For AMD users, use ROCm </a:t>
            </a:r>
            <a:r>
              <a:rPr b="1" lang="en" sz="1500">
                <a:solidFill>
                  <a:schemeClr val="dk1"/>
                </a:solidFill>
              </a:rPr>
              <a:t>(Radeon Open Compute platform)</a:t>
            </a:r>
            <a:r>
              <a:rPr lang="en" sz="1500">
                <a:solidFill>
                  <a:schemeClr val="dk1"/>
                </a:solidFill>
              </a:rPr>
              <a:t> instead of CUDA.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romanLcPeriod"/>
            </a:pPr>
            <a:r>
              <a:rPr lang="en" sz="1500">
                <a:solidFill>
                  <a:schemeClr val="dk1"/>
                </a:solidFill>
              </a:rPr>
              <a:t>Supported by PyTorch and increasingly by TensorFlow. 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romanLcPeriod"/>
            </a:pPr>
            <a:r>
              <a:rPr lang="en" sz="1500">
                <a:solidFill>
                  <a:schemeClr val="dk1"/>
                </a:solidFill>
              </a:rPr>
              <a:t>However, ROCm is newer, and documentation is limited, compatibility can vary across: OS versions, PyTorch/TensorFlow builds, AMD GPU models (only some are supported)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</a:rPr>
              <a:t>		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200"/>
              </a:spcAft>
              <a:buSzPts val="18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You Need for Local ML/DL Setup</a:t>
            </a:r>
            <a:endParaRPr/>
          </a:p>
        </p:txBody>
      </p:sp>
      <p:sp>
        <p:nvSpPr>
          <p:cNvPr id="87" name="Google Shape;8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1700">
                <a:solidFill>
                  <a:schemeClr val="dk1"/>
                </a:solidFill>
              </a:rPr>
              <a:t>Operating systems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en" sz="1700">
                <a:solidFill>
                  <a:schemeClr val="dk1"/>
                </a:solidFill>
              </a:rPr>
              <a:t>Most ML/DL tools are natively built for Linux environments.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en" sz="1700">
                <a:solidFill>
                  <a:schemeClr val="dk1"/>
                </a:solidFill>
              </a:rPr>
              <a:t>Native Ubuntu, because installing CUDA and cuDNN is easier and more stable in a Linux-based environment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lphaLcPeriod"/>
            </a:pPr>
            <a:r>
              <a:rPr lang="en" sz="1700">
                <a:solidFill>
                  <a:schemeClr val="dk1"/>
                </a:solidFill>
              </a:rPr>
              <a:t>For Windows, WSL2 (Windows Subsystem for Linux). </a:t>
            </a:r>
            <a:endParaRPr sz="1700">
              <a:solidFill>
                <a:schemeClr val="dk1"/>
              </a:solidFill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romanLcPeriod"/>
            </a:pPr>
            <a:r>
              <a:rPr lang="en" sz="1700">
                <a:solidFill>
                  <a:schemeClr val="dk1"/>
                </a:solidFill>
              </a:rPr>
              <a:t>Running Linux tools (like apt, bash) directly on Windows</a:t>
            </a:r>
            <a:endParaRPr sz="1700">
              <a:solidFill>
                <a:schemeClr val="dk1"/>
              </a:solidFill>
            </a:endParaRPr>
          </a:p>
          <a:p>
            <a:pPr indent="-336550" lvl="2" marL="13716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romanLcPeriod"/>
            </a:pPr>
            <a:r>
              <a:rPr lang="en" sz="1700">
                <a:solidFill>
                  <a:schemeClr val="dk1"/>
                </a:solidFill>
              </a:rPr>
              <a:t>Better compatibility with PyTorch, TensorFlow, and CUDA drivers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700">
                <a:solidFill>
                  <a:schemeClr val="dk1"/>
                </a:solidFill>
              </a:rPr>
              <a:t>		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Installing PyTorch in Windows via WSL2</a:t>
            </a:r>
            <a:endParaRPr/>
          </a:p>
        </p:txBody>
      </p:sp>
      <p:sp>
        <p:nvSpPr>
          <p:cNvPr id="93" name="Google Shape;93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956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60"/>
              <a:buAutoNum type="arabicPeriod"/>
            </a:pPr>
            <a:r>
              <a:rPr lang="en" sz="1660">
                <a:solidFill>
                  <a:schemeClr val="dk1"/>
                </a:solidFill>
              </a:rPr>
              <a:t>Open “Turn Windows Features On or Off”</a:t>
            </a:r>
            <a:br>
              <a:rPr lang="en" sz="1660">
                <a:solidFill>
                  <a:schemeClr val="dk1"/>
                </a:solidFill>
              </a:rPr>
            </a:br>
            <a:endParaRPr sz="1660">
              <a:solidFill>
                <a:schemeClr val="dk1"/>
              </a:solidFill>
            </a:endParaRPr>
          </a:p>
          <a:p>
            <a:pPr indent="-28956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60"/>
              <a:buAutoNum type="arabicPeriod"/>
            </a:pPr>
            <a:r>
              <a:rPr lang="en" sz="1660">
                <a:solidFill>
                  <a:schemeClr val="dk1"/>
                </a:solidFill>
              </a:rPr>
              <a:t>Enable Windows Subsystem for Linux</a:t>
            </a:r>
            <a:br>
              <a:rPr lang="en" sz="1660">
                <a:solidFill>
                  <a:schemeClr val="dk1"/>
                </a:solidFill>
              </a:rPr>
            </a:br>
            <a:endParaRPr sz="1660">
              <a:solidFill>
                <a:schemeClr val="dk1"/>
              </a:solidFill>
            </a:endParaRPr>
          </a:p>
          <a:p>
            <a:pPr indent="-28956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60"/>
              <a:buAutoNum type="arabicPeriod"/>
            </a:pPr>
            <a:r>
              <a:rPr lang="en" sz="1660">
                <a:solidFill>
                  <a:schemeClr val="dk1"/>
                </a:solidFill>
              </a:rPr>
              <a:t>Restart PC</a:t>
            </a:r>
            <a:endParaRPr sz="16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60" u="sng">
                <a:solidFill>
                  <a:schemeClr val="dk1"/>
                </a:solidFill>
              </a:rPr>
              <a:t>Use these commands on cmd-</a:t>
            </a:r>
            <a:endParaRPr sz="166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60">
                <a:solidFill>
                  <a:schemeClr val="dk1"/>
                </a:solidFill>
              </a:rPr>
              <a:t>1.wsl --install</a:t>
            </a:r>
            <a:endParaRPr sz="16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60">
                <a:solidFill>
                  <a:schemeClr val="dk1"/>
                </a:solidFill>
              </a:rPr>
              <a:t>2. wsl.exe --install ubuntu</a:t>
            </a:r>
            <a:endParaRPr sz="16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" sz="1660">
                <a:solidFill>
                  <a:schemeClr val="dk1"/>
                </a:solidFill>
              </a:rPr>
              <a:t>3. sudo apt update &amp;&amp; sudo apt upgrade</a:t>
            </a:r>
            <a:endParaRPr sz="16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en" sz="1660">
                <a:solidFill>
                  <a:schemeClr val="dk1"/>
                </a:solidFill>
              </a:rPr>
              <a:t>4. sudo apt install python3 python3-pip</a:t>
            </a:r>
            <a:endParaRPr sz="96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Installing PyTorch in Windows via WSL2</a:t>
            </a:r>
            <a:endParaRPr/>
          </a:p>
        </p:txBody>
      </p:sp>
      <p:sp>
        <p:nvSpPr>
          <p:cNvPr id="99" name="Google Shape;99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pip3 install torch torchvision torchaudio --index-url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https://download.pytorch.org/whl/cu118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 sz="1600">
                <a:solidFill>
                  <a:schemeClr val="dk1"/>
                </a:solidFill>
              </a:rPr>
              <a:t>python3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&gt;&gt;&gt; import torch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&gt;&gt;&gt; torch.cuda.is_available()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600">
                <a:solidFill>
                  <a:schemeClr val="dk1"/>
                </a:solidFill>
              </a:rPr>
              <a:t>&gt;&gt;&gt; True</a:t>
            </a:r>
            <a:endParaRPr sz="1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Using PyTorch in Colab / Kaggle</a:t>
            </a:r>
            <a:endParaRPr/>
          </a:p>
        </p:txBody>
      </p:sp>
      <p:sp>
        <p:nvSpPr>
          <p:cNvPr id="105" name="Google Shape;105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-3203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972"/>
              <a:buChar char="●"/>
            </a:pPr>
            <a:r>
              <a:rPr lang="en" sz="3609">
                <a:solidFill>
                  <a:schemeClr val="dk1"/>
                </a:solidFill>
              </a:rPr>
              <a:t>PyTorch is pre-installed with GPU/TPU support</a:t>
            </a:r>
            <a:endParaRPr sz="3609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4653"/>
              <a:buNone/>
            </a:pPr>
            <a:r>
              <a:t/>
            </a:r>
            <a:endParaRPr sz="3609">
              <a:solidFill>
                <a:schemeClr val="dk1"/>
              </a:solidFill>
            </a:endParaRPr>
          </a:p>
          <a:p>
            <a:pPr indent="-3203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9972"/>
              <a:buChar char="●"/>
            </a:pPr>
            <a:r>
              <a:rPr lang="en" sz="3609">
                <a:solidFill>
                  <a:schemeClr val="dk1"/>
                </a:solidFill>
              </a:rPr>
              <a:t>To enable GPU:</a:t>
            </a:r>
            <a:endParaRPr sz="3609">
              <a:solidFill>
                <a:schemeClr val="dk1"/>
              </a:solidFill>
            </a:endParaRPr>
          </a:p>
          <a:p>
            <a:pPr indent="-32035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972"/>
              <a:buChar char="○"/>
            </a:pPr>
            <a:r>
              <a:rPr lang="en" sz="3609">
                <a:solidFill>
                  <a:schemeClr val="dk1"/>
                </a:solidFill>
              </a:rPr>
              <a:t>Go to Runtime &gt; Change runtime type &gt; Select GPU</a:t>
            </a:r>
            <a:endParaRPr sz="3609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4653"/>
              <a:buNone/>
            </a:pPr>
            <a:r>
              <a:t/>
            </a:r>
            <a:endParaRPr sz="3609">
              <a:solidFill>
                <a:schemeClr val="dk1"/>
              </a:solidFill>
            </a:endParaRPr>
          </a:p>
          <a:p>
            <a:pPr indent="-32035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9972"/>
              <a:buChar char="●"/>
            </a:pPr>
            <a:r>
              <a:rPr lang="en" sz="3609">
                <a:solidFill>
                  <a:schemeClr val="dk1"/>
                </a:solidFill>
              </a:rPr>
              <a:t>import torch</a:t>
            </a:r>
            <a:endParaRPr sz="3609">
              <a:solidFill>
                <a:schemeClr val="dk1"/>
              </a:solidFill>
            </a:endParaRPr>
          </a:p>
          <a:p>
            <a:pPr indent="-3203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9972"/>
              <a:buChar char="●"/>
            </a:pPr>
            <a:r>
              <a:rPr lang="en" sz="3609">
                <a:solidFill>
                  <a:schemeClr val="dk1"/>
                </a:solidFill>
              </a:rPr>
              <a:t>print(torch.cuda.is_available())</a:t>
            </a:r>
            <a:endParaRPr sz="3609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81250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36842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36842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321428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DATASET COLLECTION SOURCES</a:t>
            </a:r>
            <a:endParaRPr/>
          </a:p>
        </p:txBody>
      </p:sp>
      <p:sp>
        <p:nvSpPr>
          <p:cNvPr id="111" name="Google Shape;111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Data in Brief (data Journal): </a:t>
            </a:r>
            <a:r>
              <a:rPr lang="en" sz="1350" u="sng">
                <a:solidFill>
                  <a:schemeClr val="hlink"/>
                </a:solidFill>
                <a:hlinkClick r:id="rId3"/>
              </a:rPr>
              <a:t>https://www.sciencedirect.com/journal/data-in-brief</a:t>
            </a:r>
            <a:endParaRPr sz="1350"/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Mendeley: </a:t>
            </a:r>
            <a:r>
              <a:rPr lang="en" sz="1350" u="sng">
                <a:solidFill>
                  <a:schemeClr val="hlink"/>
                </a:solidFill>
                <a:hlinkClick r:id="rId4"/>
              </a:rPr>
              <a:t>https://data.mendeley.com/</a:t>
            </a:r>
            <a:endParaRPr sz="1350"/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Kaggle: </a:t>
            </a:r>
            <a:r>
              <a:rPr lang="en" sz="1350" u="sng">
                <a:solidFill>
                  <a:schemeClr val="hlink"/>
                </a:solidFill>
                <a:hlinkClick r:id="rId5"/>
              </a:rPr>
              <a:t>https://www.kaggle.com/</a:t>
            </a:r>
            <a:endParaRPr sz="1350"/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Papers with code: </a:t>
            </a:r>
            <a:r>
              <a:rPr lang="en" sz="1350" u="sng">
                <a:solidFill>
                  <a:schemeClr val="hlink"/>
                </a:solidFill>
                <a:hlinkClick r:id="rId6"/>
              </a:rPr>
              <a:t>https://paperswithcode.com/datasets</a:t>
            </a:r>
            <a:endParaRPr sz="1350"/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Cancer Imaging Archive: </a:t>
            </a:r>
            <a:r>
              <a:rPr lang="en" sz="1350" u="sng">
                <a:solidFill>
                  <a:schemeClr val="hlink"/>
                </a:solidFill>
                <a:hlinkClick r:id="rId7"/>
              </a:rPr>
              <a:t>https://www.cancerimagingarchive.net/browse-collections/</a:t>
            </a:r>
            <a:endParaRPr sz="1350"/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Huggingface dataset hub: https://huggingface.co/datasets</a:t>
            </a:r>
            <a:endParaRPr sz="1350"/>
          </a:p>
          <a:p>
            <a:pPr indent="-31432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50"/>
              <a:buChar char="●"/>
            </a:pPr>
            <a:r>
              <a:rPr lang="en" sz="1350"/>
              <a:t>Google dataset search engine: https://datasetsearch.research.google.com/</a:t>
            </a:r>
            <a:endParaRPr sz="1350"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2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